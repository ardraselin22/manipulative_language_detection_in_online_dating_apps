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301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2860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228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 ONLINE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the Unsaid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NLP Pipeline for Detecting</a:t>
            </a:r>
            <a:endParaRPr lang="en-US" sz="1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Manipulative Language in Online Dating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41148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+ Fusion Scoring  ·  NLP Course  ·  May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R  |  Abhi   |  Ardra Selin A G|  Manasa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Muraleedharan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2560320" cy="685800"/>
          </a:xfrm>
          <a:prstGeom prst="rect">
            <a:avLst/>
          </a:prstGeom>
          <a:solidFill>
            <a:srgbClr val="162236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4224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91B2"/>
                </a:solidFill>
              </a:rPr>
              <a:t>3-Class Output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4498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Normal / Explicit / Manipulative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4206240"/>
            <a:ext cx="2560320" cy="685800"/>
          </a:xfrm>
          <a:prstGeom prst="rect">
            <a:avLst/>
          </a:prstGeom>
          <a:solidFill>
            <a:srgbClr val="162236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4224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91B2"/>
                </a:solidFill>
              </a:rPr>
              <a:t>Model Size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91840" y="4498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255 MB  (under 300 MB limit)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4206240"/>
            <a:ext cx="2560320" cy="685800"/>
          </a:xfrm>
          <a:prstGeom prst="rect">
            <a:avLst/>
          </a:prstGeom>
          <a:solidFill>
            <a:srgbClr val="162236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4224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91B2"/>
                </a:solidFill>
              </a:rPr>
              <a:t>Validation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6480" y="4498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100% Accuracy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560320" cy="23774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371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891B2"/>
                </a:solidFill>
              </a:rPr>
              <a:t>300M+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Global users on</a:t>
            </a:r>
            <a:endParaRPr lang="en-US" sz="12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dating platforms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5486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1097280"/>
            <a:ext cx="109728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1155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Explicit Abuse  ·  [Profanity/Slur]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48132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Caught by standard keyword filters.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331720"/>
            <a:ext cx="5486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331720"/>
            <a:ext cx="10972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3500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Manipulative  ·  Guilt-Tripping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72491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</a:rPr>
              <a:t>"If you really cared about me, you would send me your number."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703320"/>
            <a:ext cx="8503920" cy="59436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72160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</a:rPr>
              <a:t>Keyword filters catch profanity — but psychological manipulation passes them entirely. That's the gap this system closes.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548640" cy="1554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2618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DistilBERT Classifier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66420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Fine-tune DistilBERT for 3-class detection: Normal, Explicit Abuse, and Manipulative.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0" cy="1554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12618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Multi-Source Corpus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66420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Unify 4 datasets — ConvAbuse, MentalManip (×2), and ETHOS Hate Speech.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26080"/>
            <a:ext cx="548640" cy="1554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0906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Novel Fusion Scoring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49300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Combine neural content analysis, rule-based keyword detection, and multi-turn escalation tracking.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548640" cy="1554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30906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Streamlit Deployment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349300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Real-time risk assessment web app within a 300 MB cloud limit.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End-to-End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1234440" cy="1234440"/>
          </a:xfrm>
          <a:prstGeom prst="rect">
            <a:avLst/>
          </a:prstGeom>
          <a:solidFill>
            <a:srgbClr val="162236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463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891B2"/>
                </a:solidFill>
              </a:rPr>
              <a:t>download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891B2"/>
                </a:solidFill>
              </a:rPr>
              <a:t>_datasets.py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74320" y="2057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Acquire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datasets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54480" y="1988820"/>
            <a:ext cx="16459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46504" y="1371600"/>
            <a:ext cx="1234440" cy="1234440"/>
          </a:xfrm>
          <a:prstGeom prst="rect">
            <a:avLst/>
          </a:prstGeom>
          <a:solidFill>
            <a:srgbClr val="162236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46504" y="1463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891B2"/>
                </a:solidFill>
              </a:rPr>
              <a:t>data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891B2"/>
                </a:solidFill>
              </a:rPr>
              <a:t>_loader.py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746504" y="2057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Clean &amp;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split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26664" y="1988820"/>
            <a:ext cx="16459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1371600"/>
            <a:ext cx="1234440" cy="1234440"/>
          </a:xfrm>
          <a:prstGeom prst="rect">
            <a:avLst/>
          </a:prstGeom>
          <a:solidFill>
            <a:srgbClr val="162236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18688" y="1463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891B2"/>
                </a:solidFill>
              </a:rPr>
              <a:t>train.py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18688" y="2057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Fine-tune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DistilBERT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98848" y="1988820"/>
            <a:ext cx="16459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90872" y="1371600"/>
            <a:ext cx="1234440" cy="1234440"/>
          </a:xfrm>
          <a:prstGeom prst="rect">
            <a:avLst/>
          </a:prstGeom>
          <a:solidFill>
            <a:srgbClr val="162236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90872" y="1463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891B2"/>
                </a:solidFill>
              </a:rPr>
              <a:t>evaluate.py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90872" y="2057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Metrics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extraction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71032" y="1988820"/>
            <a:ext cx="16459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3056" y="1371600"/>
            <a:ext cx="1234440" cy="1234440"/>
          </a:xfrm>
          <a:prstGeom prst="rect">
            <a:avLst/>
          </a:prstGeom>
          <a:solidFill>
            <a:srgbClr val="162236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63056" y="1463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891B2"/>
                </a:solidFill>
              </a:rPr>
              <a:t>fusion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891B2"/>
                </a:solidFill>
              </a:rPr>
              <a:t>_score.py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63056" y="2057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Risk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aggregation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43216" y="1988820"/>
            <a:ext cx="164592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35240" y="1371600"/>
            <a:ext cx="1234440" cy="1234440"/>
          </a:xfrm>
          <a:prstGeom prst="rect">
            <a:avLst/>
          </a:prstGeom>
          <a:solidFill>
            <a:srgbClr val="162236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35240" y="14630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891B2"/>
                </a:solidFill>
              </a:rPr>
              <a:t>app.py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635240" y="2057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Streamlit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deploy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71600" y="3017520"/>
            <a:ext cx="6400800" cy="1417320"/>
          </a:xfrm>
          <a:prstGeom prst="rect">
            <a:avLst/>
          </a:prstGeom>
          <a:solidFill>
            <a:srgbClr val="162236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371600" y="30906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System Output: 3-Class Classification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20240" y="34930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</a:rPr>
              <a:t>0  Normal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31920" y="34930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1  Explicit Abuse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0" y="34930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</a:rPr>
              <a:t>2  Manipulative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DistilBERT?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926080" cy="47548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286000" cy="47548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0972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BERT-base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097280"/>
            <a:ext cx="2651760" cy="47548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10972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DistilBERT 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72768"/>
            <a:ext cx="292608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</a:rPr>
              <a:t>Transformer Layers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572768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5727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12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1572768"/>
            <a:ext cx="2651760" cy="475488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15727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</a:rPr>
              <a:t>6  (50% fewer)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048256"/>
            <a:ext cx="29260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048256"/>
            <a:ext cx="292608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</a:rPr>
              <a:t>Parameters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2048256"/>
            <a:ext cx="22860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04825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110M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2048256"/>
            <a:ext cx="2651760" cy="475488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204825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</a:rPr>
              <a:t>66M  (40% smaller)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523744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523744"/>
            <a:ext cx="292608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</a:rPr>
              <a:t>Model Size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2523744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5237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440 MB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0" y="2523744"/>
            <a:ext cx="2651760" cy="475488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25237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</a:rPr>
              <a:t>255 MB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999232"/>
            <a:ext cx="292608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999232"/>
            <a:ext cx="292608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</a:rPr>
              <a:t>Inference Speed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83280" y="2999232"/>
            <a:ext cx="22860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299923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Baseline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0" y="2999232"/>
            <a:ext cx="2651760" cy="475488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29992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</a:rPr>
              <a:t>60% Faster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474720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474720"/>
            <a:ext cx="2926080" cy="475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</a:rPr>
              <a:t>Performance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83280" y="3474720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34747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100%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0" y="3474720"/>
            <a:ext cx="2651760" cy="475488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34747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A"/>
                </a:solidFill>
              </a:rPr>
              <a:t>97%  retained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959352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2B4A"/>
                </a:solidFill>
              </a:rPr>
              <a:t>Knowledge Distillation: A smaller student model learns from BERT via Distillation Loss, MLM Loss, and Cosine Embedding Loss — achieving near-BERT quality at a fraction of the cost.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Fusion Scoring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51560"/>
            <a:ext cx="2651760" cy="2286000"/>
          </a:xfrm>
          <a:prstGeom prst="rect">
            <a:avLst/>
          </a:prstGeom>
          <a:solidFill>
            <a:srgbClr val="162236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51560"/>
            <a:ext cx="265176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0.4×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9768" y="1554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Neural Content Score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99339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DistilBERT softmax probability. The deep-learning foundation.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71800" y="1920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</a:rPr>
              <a:t>+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51760" cy="2286000"/>
          </a:xfrm>
          <a:prstGeom prst="rect">
            <a:avLst/>
          </a:prstGeom>
          <a:solidFill>
            <a:srgbClr val="162236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51560"/>
            <a:ext cx="265176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0.3×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10128" y="1554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Keyword Score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99339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Rule-based detection of guilt-tripping, isolation, gaslighting phrases. Explainable safety net.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0" y="1920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</a:rPr>
              <a:t>+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080760" y="1051560"/>
            <a:ext cx="2651760" cy="2286000"/>
          </a:xfrm>
          <a:prstGeom prst="rect">
            <a:avLst/>
          </a:prstGeom>
          <a:solidFill>
            <a:srgbClr val="162236"/>
          </a:solidFill>
          <a:ln w="19050">
            <a:solidFill>
              <a:srgbClr val="E879F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051560"/>
            <a:ext cx="2651760" cy="41148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0.3×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90488" y="15544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9F9"/>
                </a:solidFill>
              </a:rPr>
              <a:t>Escalation Score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0488" y="199339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Tracks severity increase across message turns. Spikes to 0.8 on escalating conversations.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3520440"/>
            <a:ext cx="0" cy="41148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3931920"/>
            <a:ext cx="41148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86000" y="39319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Final Risk Score  =  0.85  →  HIGH RISK ⚠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Results &amp; Streamlit Deployment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92024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78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</a:rPr>
              <a:t>100%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Validation Accuracy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192024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78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</a:rPr>
              <a:t>5/5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Fusion Tests Passed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1051560"/>
            <a:ext cx="192024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078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</a:rPr>
              <a:t>255 MB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Deployment Footprint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1051560"/>
            <a:ext cx="192024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0789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Datasets Combined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Risk Thresholds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269748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697480"/>
            <a:ext cx="9144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1576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&lt; 0.35  ·  SAFE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9443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No action needed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264408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264408"/>
            <a:ext cx="9144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28269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0.35 – 0.64  ·  WARNING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5112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Monitor closely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83133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831336"/>
            <a:ext cx="9144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84962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≥ 0.65  ·  HIGH RISK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0782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Immediate review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Streamlit App Features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0" y="269748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2697480"/>
            <a:ext cx="9144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6974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Real-time NLP inference per message turn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0" y="326440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3264408"/>
            <a:ext cx="9144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26440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Color-coded Content / Manipulation / Escalation scores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0" y="383133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3831336"/>
            <a:ext cx="9144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83133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Graceful base-model fallback mechanism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0" y="4398264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0" y="4398264"/>
            <a:ext cx="9144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39826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Fully modular — update keywords without retraining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 &amp;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41148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Contributions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99032"/>
            <a:ext cx="4114800" cy="420624"/>
          </a:xfrm>
          <a:prstGeom prst="rect">
            <a:avLst/>
          </a:prstGeom>
          <a:solidFill>
            <a:srgbClr val="162236"/>
          </a:solidFill>
          <a:ln w="6350">
            <a:solidFill>
              <a:srgbClr val="2D4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9903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Multi-source unified corpus from 4 diverse datasets (ConvAbuse, MentalManip ×2, ETHOS)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901952"/>
            <a:ext cx="4114800" cy="420624"/>
          </a:xfrm>
          <a:prstGeom prst="rect">
            <a:avLst/>
          </a:prstGeom>
          <a:solidFill>
            <a:srgbClr val="162236"/>
          </a:solidFill>
          <a:ln w="6350">
            <a:solidFill>
              <a:srgbClr val="2D4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0195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Fine-tuned DistilBERT with 100% validation accuracy via inverse-frequency class weighting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404872"/>
            <a:ext cx="4114800" cy="420624"/>
          </a:xfrm>
          <a:prstGeom prst="rect">
            <a:avLst/>
          </a:prstGeom>
          <a:solidFill>
            <a:srgbClr val="162236"/>
          </a:solidFill>
          <a:ln w="6350">
            <a:solidFill>
              <a:srgbClr val="2D4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0487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Novel Fusion Scoring: neural + rule-based keywords + multi-turn escalation in one score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907792"/>
            <a:ext cx="4114800" cy="420624"/>
          </a:xfrm>
          <a:prstGeom prst="rect">
            <a:avLst/>
          </a:prstGeom>
          <a:solidFill>
            <a:srgbClr val="162236"/>
          </a:solidFill>
          <a:ln w="6350">
            <a:solidFill>
              <a:srgbClr val="2D4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0779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Deployed Streamlit app for real-time risk assessment within 300 MB cloud limit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4114800" cy="347472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Future Work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1399032"/>
            <a:ext cx="4114800" cy="420624"/>
          </a:xfrm>
          <a:prstGeom prst="rect">
            <a:avLst/>
          </a:prstGeom>
          <a:solidFill>
            <a:srgbClr val="162236"/>
          </a:solidFill>
          <a:ln w="6350">
            <a:solidFill>
              <a:srgbClr val="2D4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39903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Expand manipulation keyword list with domain expert input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901952"/>
            <a:ext cx="4114800" cy="420624"/>
          </a:xfrm>
          <a:prstGeom prst="rect">
            <a:avLst/>
          </a:prstGeom>
          <a:solidFill>
            <a:srgbClr val="162236"/>
          </a:solidFill>
          <a:ln w="6350">
            <a:solidFill>
              <a:srgbClr val="2D4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90195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Experiment with BERT-large, RoBERTa, GPT-based classifiers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404872"/>
            <a:ext cx="4114800" cy="420624"/>
          </a:xfrm>
          <a:prstGeom prst="rect">
            <a:avLst/>
          </a:prstGeom>
          <a:solidFill>
            <a:srgbClr val="162236"/>
          </a:solidFill>
          <a:ln w="6350">
            <a:solidFill>
              <a:srgbClr val="2D4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40487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Richer multi-turn escalation logic with temporal patterns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907792"/>
            <a:ext cx="4114800" cy="420624"/>
          </a:xfrm>
          <a:prstGeom prst="rect">
            <a:avLst/>
          </a:prstGeom>
          <a:solidFill>
            <a:srgbClr val="162236"/>
          </a:solidFill>
          <a:ln w="6350">
            <a:solidFill>
              <a:srgbClr val="2D4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90779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User-reported feedback loops for continuous improvement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NLP Course Project  ·  DistilBERT + Fusion Scoring  ·  May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555</Words>
  <Application>Microsoft Office PowerPoint</Application>
  <PresentationFormat>On-screen Show (16:9)</PresentationFormat>
  <Paragraphs>133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Detecting Manipulative Language in Online Dating - NLP Project</dc:title>
  <dc:subject>PptxGenJS Presentation</dc:subject>
  <dc:creator>PptxGenJS</dc:creator>
  <cp:lastModifiedBy>Ardra selin</cp:lastModifiedBy>
  <cp:revision>2</cp:revision>
  <dcterms:created xsi:type="dcterms:W3CDTF">2026-05-05T07:57:41Z</dcterms:created>
  <dcterms:modified xsi:type="dcterms:W3CDTF">2026-05-05T14:12:18Z</dcterms:modified>
</cp:coreProperties>
</file>