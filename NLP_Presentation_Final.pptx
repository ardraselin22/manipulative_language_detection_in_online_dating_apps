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59" r:id="rId6"/>
    <p:sldId id="260" r:id="rId7"/>
    <p:sldId id="264" r:id="rId8"/>
    <p:sldId id="265" r:id="rId9"/>
    <p:sldId id="266" r:id="rId10"/>
    <p:sldId id="267" r:id="rId11"/>
    <p:sldId id="268" r:id="rId12"/>
    <p:sldId id="269" r:id="rId13"/>
    <p:sldId id="261" r:id="rId14"/>
    <p:sldId id="262" r:id="rId15"/>
    <p:sldId id="263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9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93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301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228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the Unsaid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NLP Pipeline for Detecting</a:t>
            </a:r>
            <a:endParaRPr lang="en-US" sz="1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Manipulative Language in Online Dating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114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+ Fusion Scoring  ·  NLP Course  ·  May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R 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Abhi P Vijay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Ardra Selin A G|  Manasa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Muraleedharan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2560320" cy="685800"/>
          </a:xfrm>
          <a:prstGeom prst="rect">
            <a:avLst/>
          </a:prstGeom>
          <a:solidFill>
            <a:srgbClr val="162236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</a:rPr>
              <a:t>3-Class Output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4498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Normal / Explicit / Manipulative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4206240"/>
            <a:ext cx="2560320" cy="685800"/>
          </a:xfrm>
          <a:prstGeom prst="rect">
            <a:avLst/>
          </a:prstGeom>
          <a:solidFill>
            <a:srgbClr val="162236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</a:rPr>
              <a:t>Model Size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91840" y="4498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255 MB  (under 300 MB limit)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4206240"/>
            <a:ext cx="2560320" cy="685800"/>
          </a:xfrm>
          <a:prstGeom prst="rect">
            <a:avLst/>
          </a:prstGeom>
          <a:solidFill>
            <a:srgbClr val="162236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</a:rPr>
              <a:t>Validation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0" y="4498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98% Accuracy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560320" cy="23774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71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891B2"/>
                </a:solidFill>
              </a:rPr>
              <a:t>300M+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Global users on</a:t>
            </a:r>
            <a:endParaRPr lang="en-US" sz="12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dating platforms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097280"/>
            <a:ext cx="109728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1155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Explicit Abuse  ·  [Profanity/Slur]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4813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Caught by standard keyword filters.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331720"/>
            <a:ext cx="10972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3500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Manipulative  ·  Guilt-Tripping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72491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</a:rPr>
              <a:t>"If you really cared about me, you would send me your number."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703320"/>
            <a:ext cx="8503920" cy="59436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72160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Keyword filters catch profanity — but psychological manipulation passes them entirely. That's the gap this system closes.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48640" cy="1554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2618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DistilBERT Classifier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6420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Fine-tune DistilBERT for 3-class detection: Normal, Explicit Abuse, and Manipulative.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0" cy="1554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12618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Multi-Source Corpus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66420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Unify 4 datasets — ConvAbuse, MentalManip (×2), and ETHOS Hate Speech.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548640" cy="1554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090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Novel Fusion Scoring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49300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Combine neural content analysis, rule-based keyword detection, and multi-turn escalation tracking.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548640" cy="1554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3090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Streamlit Deployment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349300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Real-time risk assessment web app within a 300 MB cloud limit.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Training Datasets</a:t>
            </a:r>
          </a:p>
        </p:txBody>
      </p:sp>
      <p:sp>
        <p:nvSpPr>
          <p:cNvPr id="10" name="Shape H1"/>
          <p:cNvSpPr/>
          <p:nvPr/>
        </p:nvSpPr>
        <p:spPr>
          <a:xfrm>
            <a:off x="457200" y="990000"/>
            <a:ext cx="1600000" cy="430000"/>
          </a:xfrm>
          <a:prstGeom prst="rect">
            <a:avLst/>
          </a:prstGeom>
          <a:solidFill>
            <a:srgbClr val="1A2B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H1"/>
          <p:cNvSpPr/>
          <p:nvPr/>
        </p:nvSpPr>
        <p:spPr>
          <a:xfrm>
            <a:off x="457200" y="990000"/>
            <a:ext cx="1600000" cy="43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12" name="Shape H2"/>
          <p:cNvSpPr/>
          <p:nvPr/>
        </p:nvSpPr>
        <p:spPr>
          <a:xfrm>
            <a:off x="2057200" y="990000"/>
            <a:ext cx="1750000" cy="430000"/>
          </a:xfrm>
          <a:prstGeom prst="rect">
            <a:avLst/>
          </a:prstGeom>
          <a:solidFill>
            <a:srgbClr val="1A2B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H2"/>
          <p:cNvSpPr/>
          <p:nvPr/>
        </p:nvSpPr>
        <p:spPr>
          <a:xfrm>
            <a:off x="2057200" y="990000"/>
            <a:ext cx="1750000" cy="43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4" name="Shape H3"/>
          <p:cNvSpPr/>
          <p:nvPr/>
        </p:nvSpPr>
        <p:spPr>
          <a:xfrm>
            <a:off x="3807200" y="990000"/>
            <a:ext cx="1050000" cy="430000"/>
          </a:xfrm>
          <a:prstGeom prst="rect">
            <a:avLst/>
          </a:prstGeom>
          <a:solidFill>
            <a:srgbClr val="1A2B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H3"/>
          <p:cNvSpPr/>
          <p:nvPr/>
        </p:nvSpPr>
        <p:spPr>
          <a:xfrm>
            <a:off x="3807200" y="990000"/>
            <a:ext cx="1050000" cy="43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Size</a:t>
            </a:r>
          </a:p>
        </p:txBody>
      </p:sp>
      <p:sp>
        <p:nvSpPr>
          <p:cNvPr id="16" name="Shape H4"/>
          <p:cNvSpPr/>
          <p:nvPr/>
        </p:nvSpPr>
        <p:spPr>
          <a:xfrm>
            <a:off x="4857200" y="990000"/>
            <a:ext cx="1350000" cy="430000"/>
          </a:xfrm>
          <a:prstGeom prst="rect">
            <a:avLst/>
          </a:prstGeom>
          <a:solidFill>
            <a:srgbClr val="1A2B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H4"/>
          <p:cNvSpPr/>
          <p:nvPr/>
        </p:nvSpPr>
        <p:spPr>
          <a:xfrm>
            <a:off x="4857200" y="990000"/>
            <a:ext cx="1350000" cy="43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Label</a:t>
            </a:r>
          </a:p>
        </p:txBody>
      </p:sp>
      <p:sp>
        <p:nvSpPr>
          <p:cNvPr id="18" name="Shape H5"/>
          <p:cNvSpPr/>
          <p:nvPr/>
        </p:nvSpPr>
        <p:spPr>
          <a:xfrm>
            <a:off x="6207200" y="990000"/>
            <a:ext cx="2479800" cy="430000"/>
          </a:xfrm>
          <a:prstGeom prst="rect">
            <a:avLst/>
          </a:prstGeom>
          <a:solidFill>
            <a:srgbClr val="1A2B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H5"/>
          <p:cNvSpPr/>
          <p:nvPr/>
        </p:nvSpPr>
        <p:spPr>
          <a:xfrm>
            <a:off x="6207200" y="990000"/>
            <a:ext cx="2479800" cy="43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Characteristic</a:t>
            </a:r>
          </a:p>
        </p:txBody>
      </p:sp>
      <p:sp>
        <p:nvSpPr>
          <p:cNvPr id="20" name="Shape R1C1"/>
          <p:cNvSpPr/>
          <p:nvPr/>
        </p:nvSpPr>
        <p:spPr>
          <a:xfrm>
            <a:off x="457200" y="1420000"/>
            <a:ext cx="1600000" cy="5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R1C1"/>
          <p:cNvSpPr/>
          <p:nvPr/>
        </p:nvSpPr>
        <p:spPr>
          <a:xfrm>
            <a:off x="457200" y="1420000"/>
            <a:ext cx="16000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</a:rPr>
              <a:t>ConvAbuse</a:t>
            </a:r>
          </a:p>
        </p:txBody>
      </p:sp>
      <p:sp>
        <p:nvSpPr>
          <p:cNvPr id="22" name="Shape R1C2"/>
          <p:cNvSpPr/>
          <p:nvPr/>
        </p:nvSpPr>
        <p:spPr>
          <a:xfrm>
            <a:off x="2057200" y="1420000"/>
            <a:ext cx="1750000" cy="5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R1C2"/>
          <p:cNvSpPr/>
          <p:nvPr/>
        </p:nvSpPr>
        <p:spPr>
          <a:xfrm>
            <a:off x="2057200" y="1420000"/>
            <a:ext cx="17500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EMNLP / CSV</a:t>
            </a:r>
          </a:p>
        </p:txBody>
      </p:sp>
      <p:sp>
        <p:nvSpPr>
          <p:cNvPr id="24" name="Shape R1C3"/>
          <p:cNvSpPr/>
          <p:nvPr/>
        </p:nvSpPr>
        <p:spPr>
          <a:xfrm>
            <a:off x="3807200" y="1420000"/>
            <a:ext cx="1050000" cy="5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R1C3"/>
          <p:cNvSpPr/>
          <p:nvPr/>
        </p:nvSpPr>
        <p:spPr>
          <a:xfrm>
            <a:off x="3807200" y="1420000"/>
            <a:ext cx="10500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~4K dialogues</a:t>
            </a:r>
          </a:p>
        </p:txBody>
      </p:sp>
      <p:sp>
        <p:nvSpPr>
          <p:cNvPr id="26" name="Shape R1C4"/>
          <p:cNvSpPr/>
          <p:nvPr/>
        </p:nvSpPr>
        <p:spPr>
          <a:xfrm>
            <a:off x="4857200" y="1420000"/>
            <a:ext cx="1350000" cy="5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R1C4"/>
          <p:cNvSpPr/>
          <p:nvPr/>
        </p:nvSpPr>
        <p:spPr>
          <a:xfrm>
            <a:off x="4857200" y="1420000"/>
            <a:ext cx="13500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1 — Explicit Abuse</a:t>
            </a:r>
          </a:p>
        </p:txBody>
      </p:sp>
      <p:sp>
        <p:nvSpPr>
          <p:cNvPr id="28" name="Shape R1C5"/>
          <p:cNvSpPr/>
          <p:nvPr/>
        </p:nvSpPr>
        <p:spPr>
          <a:xfrm>
            <a:off x="6207200" y="1420000"/>
            <a:ext cx="2479800" cy="5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R1C5"/>
          <p:cNvSpPr/>
          <p:nvPr/>
        </p:nvSpPr>
        <p:spPr>
          <a:xfrm>
            <a:off x="6207200" y="1420000"/>
            <a:ext cx="24798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Human-AI convos; majority-vote labels from 8 annotators</a:t>
            </a:r>
          </a:p>
        </p:txBody>
      </p:sp>
      <p:sp>
        <p:nvSpPr>
          <p:cNvPr id="30" name="Shape R2C1"/>
          <p:cNvSpPr/>
          <p:nvPr/>
        </p:nvSpPr>
        <p:spPr>
          <a:xfrm>
            <a:off x="457200" y="1980000"/>
            <a:ext cx="1600000" cy="5600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R2C1"/>
          <p:cNvSpPr/>
          <p:nvPr/>
        </p:nvSpPr>
        <p:spPr>
          <a:xfrm>
            <a:off x="457200" y="1980000"/>
            <a:ext cx="16000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</a:rPr>
              <a:t>MentalManip (HF)</a:t>
            </a:r>
          </a:p>
        </p:txBody>
      </p:sp>
      <p:sp>
        <p:nvSpPr>
          <p:cNvPr id="32" name="Shape R2C2"/>
          <p:cNvSpPr/>
          <p:nvPr/>
        </p:nvSpPr>
        <p:spPr>
          <a:xfrm>
            <a:off x="2057200" y="1980000"/>
            <a:ext cx="1750000" cy="5600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R2C2"/>
          <p:cNvSpPr/>
          <p:nvPr/>
        </p:nvSpPr>
        <p:spPr>
          <a:xfrm>
            <a:off x="2057200" y="1980000"/>
            <a:ext cx="17500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HuggingFace Hub</a:t>
            </a:r>
          </a:p>
        </p:txBody>
      </p:sp>
      <p:sp>
        <p:nvSpPr>
          <p:cNvPr id="34" name="Shape R2C3"/>
          <p:cNvSpPr/>
          <p:nvPr/>
        </p:nvSpPr>
        <p:spPr>
          <a:xfrm>
            <a:off x="3807200" y="1980000"/>
            <a:ext cx="1050000" cy="5600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R2C3"/>
          <p:cNvSpPr/>
          <p:nvPr/>
        </p:nvSpPr>
        <p:spPr>
          <a:xfrm>
            <a:off x="3807200" y="1980000"/>
            <a:ext cx="10500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4,000 dialogues</a:t>
            </a:r>
          </a:p>
        </p:txBody>
      </p:sp>
      <p:sp>
        <p:nvSpPr>
          <p:cNvPr id="36" name="Shape R2C4"/>
          <p:cNvSpPr/>
          <p:nvPr/>
        </p:nvSpPr>
        <p:spPr>
          <a:xfrm>
            <a:off x="4857200" y="1980000"/>
            <a:ext cx="1350000" cy="5600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R2C4"/>
          <p:cNvSpPr/>
          <p:nvPr/>
        </p:nvSpPr>
        <p:spPr>
          <a:xfrm>
            <a:off x="4857200" y="1980000"/>
            <a:ext cx="13500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2 — Manipulative</a:t>
            </a:r>
          </a:p>
        </p:txBody>
      </p:sp>
      <p:sp>
        <p:nvSpPr>
          <p:cNvPr id="38" name="Shape R2C5"/>
          <p:cNvSpPr/>
          <p:nvPr/>
        </p:nvSpPr>
        <p:spPr>
          <a:xfrm>
            <a:off x="6207200" y="1980000"/>
            <a:ext cx="2479800" cy="5600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R2C5"/>
          <p:cNvSpPr/>
          <p:nvPr/>
        </p:nvSpPr>
        <p:spPr>
          <a:xfrm>
            <a:off x="6207200" y="1980000"/>
            <a:ext cx="24798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Gaslighting, guilt-tripping, love-bombing dialogues</a:t>
            </a:r>
          </a:p>
        </p:txBody>
      </p:sp>
      <p:sp>
        <p:nvSpPr>
          <p:cNvPr id="40" name="Shape R3C1"/>
          <p:cNvSpPr/>
          <p:nvPr/>
        </p:nvSpPr>
        <p:spPr>
          <a:xfrm>
            <a:off x="457200" y="2540000"/>
            <a:ext cx="1600000" cy="5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R3C1"/>
          <p:cNvSpPr/>
          <p:nvPr/>
        </p:nvSpPr>
        <p:spPr>
          <a:xfrm>
            <a:off x="457200" y="2540000"/>
            <a:ext cx="16000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</a:rPr>
              <a:t>MentalManip (CSV)</a:t>
            </a:r>
          </a:p>
        </p:txBody>
      </p:sp>
      <p:sp>
        <p:nvSpPr>
          <p:cNvPr id="42" name="Shape R3C2"/>
          <p:cNvSpPr/>
          <p:nvPr/>
        </p:nvSpPr>
        <p:spPr>
          <a:xfrm>
            <a:off x="2057200" y="2540000"/>
            <a:ext cx="1750000" cy="5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R3C2"/>
          <p:cNvSpPr/>
          <p:nvPr/>
        </p:nvSpPr>
        <p:spPr>
          <a:xfrm>
            <a:off x="2057200" y="2540000"/>
            <a:ext cx="17500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Local CSV file</a:t>
            </a:r>
          </a:p>
        </p:txBody>
      </p:sp>
      <p:sp>
        <p:nvSpPr>
          <p:cNvPr id="44" name="Shape R3C3"/>
          <p:cNvSpPr/>
          <p:nvPr/>
        </p:nvSpPr>
        <p:spPr>
          <a:xfrm>
            <a:off x="3807200" y="2540000"/>
            <a:ext cx="1050000" cy="5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R3C3"/>
          <p:cNvSpPr/>
          <p:nvPr/>
        </p:nvSpPr>
        <p:spPr>
          <a:xfrm>
            <a:off x="3807200" y="2540000"/>
            <a:ext cx="10500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2,915 dialogues</a:t>
            </a:r>
          </a:p>
        </p:txBody>
      </p:sp>
      <p:sp>
        <p:nvSpPr>
          <p:cNvPr id="46" name="Shape R3C4"/>
          <p:cNvSpPr/>
          <p:nvPr/>
        </p:nvSpPr>
        <p:spPr>
          <a:xfrm>
            <a:off x="4857200" y="2540000"/>
            <a:ext cx="1350000" cy="5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R3C4"/>
          <p:cNvSpPr/>
          <p:nvPr/>
        </p:nvSpPr>
        <p:spPr>
          <a:xfrm>
            <a:off x="4857200" y="2540000"/>
            <a:ext cx="13500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2 — Manipulative</a:t>
            </a:r>
          </a:p>
        </p:txBody>
      </p:sp>
      <p:sp>
        <p:nvSpPr>
          <p:cNvPr id="48" name="Shape R3C5"/>
          <p:cNvSpPr/>
          <p:nvPr/>
        </p:nvSpPr>
        <p:spPr>
          <a:xfrm>
            <a:off x="6207200" y="2540000"/>
            <a:ext cx="2479800" cy="5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R3C5"/>
          <p:cNvSpPr/>
          <p:nvPr/>
        </p:nvSpPr>
        <p:spPr>
          <a:xfrm>
            <a:off x="6207200" y="2540000"/>
            <a:ext cx="24798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Consensus labels; deduped against HF version</a:t>
            </a:r>
          </a:p>
        </p:txBody>
      </p:sp>
      <p:sp>
        <p:nvSpPr>
          <p:cNvPr id="50" name="Shape R4C1"/>
          <p:cNvSpPr/>
          <p:nvPr/>
        </p:nvSpPr>
        <p:spPr>
          <a:xfrm>
            <a:off x="457200" y="3100000"/>
            <a:ext cx="1600000" cy="560000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R4C1"/>
          <p:cNvSpPr/>
          <p:nvPr/>
        </p:nvSpPr>
        <p:spPr>
          <a:xfrm>
            <a:off x="457200" y="3100000"/>
            <a:ext cx="16000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</a:rPr>
              <a:t>ETHOS</a:t>
            </a:r>
          </a:p>
        </p:txBody>
      </p:sp>
      <p:sp>
        <p:nvSpPr>
          <p:cNvPr id="52" name="Shape R4C2"/>
          <p:cNvSpPr/>
          <p:nvPr/>
        </p:nvSpPr>
        <p:spPr>
          <a:xfrm>
            <a:off x="2057200" y="3100000"/>
            <a:ext cx="1750000" cy="560000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R4C2"/>
          <p:cNvSpPr/>
          <p:nvPr/>
        </p:nvSpPr>
        <p:spPr>
          <a:xfrm>
            <a:off x="2057200" y="3100000"/>
            <a:ext cx="17500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YouTube &amp; Reddit</a:t>
            </a:r>
          </a:p>
        </p:txBody>
      </p:sp>
      <p:sp>
        <p:nvSpPr>
          <p:cNvPr id="54" name="Shape R4C3"/>
          <p:cNvSpPr/>
          <p:nvPr/>
        </p:nvSpPr>
        <p:spPr>
          <a:xfrm>
            <a:off x="3807200" y="3100000"/>
            <a:ext cx="1050000" cy="560000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R4C3"/>
          <p:cNvSpPr/>
          <p:nvPr/>
        </p:nvSpPr>
        <p:spPr>
          <a:xfrm>
            <a:off x="3807200" y="3100000"/>
            <a:ext cx="10500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4A"/>
                </a:solidFill>
              </a:rPr>
              <a:t>998 comments</a:t>
            </a:r>
          </a:p>
        </p:txBody>
      </p:sp>
      <p:sp>
        <p:nvSpPr>
          <p:cNvPr id="56" name="Shape R4C4"/>
          <p:cNvSpPr/>
          <p:nvPr/>
        </p:nvSpPr>
        <p:spPr>
          <a:xfrm>
            <a:off x="4857200" y="3100000"/>
            <a:ext cx="1350000" cy="560000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R4C4"/>
          <p:cNvSpPr/>
          <p:nvPr/>
        </p:nvSpPr>
        <p:spPr>
          <a:xfrm>
            <a:off x="4857200" y="3100000"/>
            <a:ext cx="13500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4A"/>
                </a:solidFill>
              </a:rPr>
              <a:t>1 — Explicit Abuse</a:t>
            </a:r>
          </a:p>
        </p:txBody>
      </p:sp>
      <p:sp>
        <p:nvSpPr>
          <p:cNvPr id="58" name="Shape R4C5"/>
          <p:cNvSpPr/>
          <p:nvPr/>
        </p:nvSpPr>
        <p:spPr>
          <a:xfrm>
            <a:off x="6207200" y="3100000"/>
            <a:ext cx="2479800" cy="560000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R4C5"/>
          <p:cNvSpPr/>
          <p:nvPr/>
        </p:nvSpPr>
        <p:spPr>
          <a:xfrm>
            <a:off x="6207200" y="3100000"/>
            <a:ext cx="2479800" cy="560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A"/>
                </a:solidFill>
              </a:rPr>
              <a:t>Real-world hate speech; binarised at threshold 0.5</a:t>
            </a:r>
          </a:p>
        </p:txBody>
      </p:sp>
      <p:sp>
        <p:nvSpPr>
          <p:cNvPr id="60" name="Shape Footer"/>
          <p:cNvSpPr/>
          <p:nvPr/>
        </p:nvSpPr>
        <p:spPr>
          <a:xfrm>
            <a:off x="457200" y="3760000"/>
            <a:ext cx="8229600" cy="6000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Text Footer"/>
          <p:cNvSpPr/>
          <p:nvPr/>
        </p:nvSpPr>
        <p:spPr>
          <a:xfrm>
            <a:off x="548640" y="3790000"/>
            <a:ext cx="8046720" cy="55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B4A"/>
                </a:solidFill>
              </a:rPr>
              <a:t>All 4 datasets merged into one unified corpus  ·  Total: ~8,000+ labelled samples  ·  Stratified 80/20 train-test split  ·  Class weights applied to handle imbalance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End-to-End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1234440" cy="1234440"/>
          </a:xfrm>
          <a:prstGeom prst="rect">
            <a:avLst/>
          </a:prstGeom>
          <a:solidFill>
            <a:srgbClr val="162236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463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891B2"/>
                </a:solidFill>
              </a:rPr>
              <a:t>download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891B2"/>
                </a:solidFill>
              </a:rPr>
              <a:t>_datasets.py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4320" y="2057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Acquire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datasets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54480" y="1988820"/>
            <a:ext cx="16459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46504" y="1371600"/>
            <a:ext cx="1234440" cy="1234440"/>
          </a:xfrm>
          <a:prstGeom prst="rect">
            <a:avLst/>
          </a:prstGeom>
          <a:solidFill>
            <a:srgbClr val="162236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46504" y="1463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891B2"/>
                </a:solidFill>
              </a:rPr>
              <a:t>data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891B2"/>
                </a:solidFill>
              </a:rPr>
              <a:t>_loader.py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46504" y="2057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Clean &amp;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split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26664" y="1988820"/>
            <a:ext cx="16459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371600"/>
            <a:ext cx="1234440" cy="1234440"/>
          </a:xfrm>
          <a:prstGeom prst="rect">
            <a:avLst/>
          </a:prstGeom>
          <a:solidFill>
            <a:srgbClr val="162236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18688" y="1463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891B2"/>
                </a:solidFill>
              </a:rPr>
              <a:t>train.py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18688" y="2057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Fine-tune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DistilBERT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98848" y="1988820"/>
            <a:ext cx="16459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90872" y="1371600"/>
            <a:ext cx="1234440" cy="1234440"/>
          </a:xfrm>
          <a:prstGeom prst="rect">
            <a:avLst/>
          </a:prstGeom>
          <a:solidFill>
            <a:srgbClr val="162236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90872" y="1463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891B2"/>
                </a:solidFill>
              </a:rPr>
              <a:t>evaluate.py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90872" y="2057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Metrics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extraction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71032" y="1988820"/>
            <a:ext cx="16459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1371600"/>
            <a:ext cx="1234440" cy="1234440"/>
          </a:xfrm>
          <a:prstGeom prst="rect">
            <a:avLst/>
          </a:prstGeom>
          <a:solidFill>
            <a:srgbClr val="162236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63056" y="1463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891B2"/>
                </a:solidFill>
              </a:rPr>
              <a:t>fusion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891B2"/>
                </a:solidFill>
              </a:rPr>
              <a:t>_score.py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63056" y="2057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Risk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aggregation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43216" y="1988820"/>
            <a:ext cx="16459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5240" y="1371600"/>
            <a:ext cx="1234440" cy="1234440"/>
          </a:xfrm>
          <a:prstGeom prst="rect">
            <a:avLst/>
          </a:prstGeom>
          <a:solidFill>
            <a:srgbClr val="162236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35240" y="1463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891B2"/>
                </a:solidFill>
              </a:rPr>
              <a:t>app.py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635240" y="2057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Streamlit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deploy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71600" y="3017520"/>
            <a:ext cx="6400800" cy="1417320"/>
          </a:xfrm>
          <a:prstGeom prst="rect">
            <a:avLst/>
          </a:prstGeom>
          <a:solidFill>
            <a:srgbClr val="162236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71600" y="30906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System Output: 3-Class Classification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0240" y="34930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0  Normal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31920" y="34930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1  Explicit Abuse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0" y="34930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2  Manipulative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DistilBERT?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926080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286000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0972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BERT-base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097280"/>
            <a:ext cx="2651760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0972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DistilBERT 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92608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</a:rPr>
              <a:t>Transformer Layers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572768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5727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12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1572768"/>
            <a:ext cx="2651760" cy="475488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5727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6  (50% fewer)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048256"/>
            <a:ext cx="29260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48256"/>
            <a:ext cx="292608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</a:rPr>
              <a:t>Parameters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2048256"/>
            <a:ext cx="22860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0482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110M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2048256"/>
            <a:ext cx="2651760" cy="475488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04825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66M  (40% smaller)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523744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23744"/>
            <a:ext cx="292608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</a:rPr>
              <a:t>Model Size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523744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5237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440 MB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2523744"/>
            <a:ext cx="2651760" cy="475488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25237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255 MB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999232"/>
            <a:ext cx="29260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99232"/>
            <a:ext cx="292608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</a:rPr>
              <a:t>Inference Speed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2999232"/>
            <a:ext cx="22860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29992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Baseline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0" y="2999232"/>
            <a:ext cx="2651760" cy="475488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60% Faster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474720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474720"/>
            <a:ext cx="292608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83280" y="3474720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3474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100%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0" y="3474720"/>
            <a:ext cx="2651760" cy="475488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34747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97%  retained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959352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B4A"/>
                </a:solidFill>
              </a:rPr>
              <a:t>Knowledge Distillation: A smaller student model learns from BERT via Distillation Loss, MLM Loss, and Cosine Embedding Loss — achieving near-BERT quality at a fraction of the cost.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</p:spPr>
      </p:sp>
      <p:sp>
        <p:nvSpPr>
          <p:cNvPr id="3" name="Title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DistilBERT — Internal Flow (Steps 1–3)</a:t>
            </a:r>
          </a:p>
        </p:txBody>
      </p:sp>
      <p:sp>
        <p:nvSpPr>
          <p:cNvPr id="10" name="S1Box"/>
          <p:cNvSpPr/>
          <p:nvPr/>
        </p:nvSpPr>
        <p:spPr>
          <a:xfrm>
            <a:off x="457200" y="990000"/>
            <a:ext cx="25908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</p:sp>
      <p:sp>
        <p:nvSpPr>
          <p:cNvPr id="11" name="S1Header"/>
          <p:cNvSpPr/>
          <p:nvPr/>
        </p:nvSpPr>
        <p:spPr>
          <a:xfrm>
            <a:off x="457200" y="990000"/>
            <a:ext cx="2590800" cy="3800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txBody>
          <a:bodyPr wrap="square" lIns="76200" tIns="38100" rIns="762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1 — INPUT TEXT</a:t>
            </a:r>
          </a:p>
        </p:txBody>
      </p:sp>
      <p:sp>
        <p:nvSpPr>
          <p:cNvPr id="12" name="S1Content"/>
          <p:cNvSpPr/>
          <p:nvPr/>
        </p:nvSpPr>
        <p:spPr>
          <a:xfrm>
            <a:off x="533400" y="1400000"/>
            <a:ext cx="2438400" cy="3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Raw text cannot be processed directly. The sentence first enters the tokenizer.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0891B2"/>
                </a:solidFill>
              </a:rPr>
              <a:t>“If you cared about me”</a:t>
            </a:r>
          </a:p>
        </p:txBody>
      </p:sp>
      <p:sp>
        <p:nvSpPr>
          <p:cNvPr id="20" name="S2Box"/>
          <p:cNvSpPr/>
          <p:nvPr/>
        </p:nvSpPr>
        <p:spPr>
          <a:xfrm>
            <a:off x="3200400" y="990000"/>
            <a:ext cx="25908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</p:sp>
      <p:sp>
        <p:nvSpPr>
          <p:cNvPr id="21" name="S2Header"/>
          <p:cNvSpPr/>
          <p:nvPr/>
        </p:nvSpPr>
        <p:spPr>
          <a:xfrm>
            <a:off x="3200400" y="990000"/>
            <a:ext cx="2590800" cy="3800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txBody>
          <a:bodyPr wrap="square" lIns="76200" tIns="38100" rIns="762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2 — TOKENIZATION</a:t>
            </a:r>
          </a:p>
        </p:txBody>
      </p:sp>
      <p:sp>
        <p:nvSpPr>
          <p:cNvPr id="22" name="S2Content"/>
          <p:cNvSpPr/>
          <p:nvPr/>
        </p:nvSpPr>
        <p:spPr>
          <a:xfrm>
            <a:off x="3276600" y="1400000"/>
            <a:ext cx="2438400" cy="3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DistilBERT uses WordPiece tokenization. Special tokens are added.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Output: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</a:rPr>
              <a:t>[CLS] if you cared about me [SEP]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Unknown words split into subwords. E.g. “gaslighting” → [gas, ##light, ##ing]</a:t>
            </a:r>
          </a:p>
        </p:txBody>
      </p:sp>
      <p:sp>
        <p:nvSpPr>
          <p:cNvPr id="30" name="S3Box"/>
          <p:cNvSpPr/>
          <p:nvPr/>
        </p:nvSpPr>
        <p:spPr>
          <a:xfrm>
            <a:off x="5943600" y="990000"/>
            <a:ext cx="27432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</p:sp>
      <p:sp>
        <p:nvSpPr>
          <p:cNvPr id="31" name="S3Header"/>
          <p:cNvSpPr/>
          <p:nvPr/>
        </p:nvSpPr>
        <p:spPr>
          <a:xfrm>
            <a:off x="5943600" y="990000"/>
            <a:ext cx="2743200" cy="3800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txBody>
          <a:bodyPr wrap="square" lIns="76200" tIns="38100" rIns="762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3 — TOKEN IDs</a:t>
            </a:r>
          </a:p>
        </p:txBody>
      </p:sp>
      <p:sp>
        <p:nvSpPr>
          <p:cNvPr id="32" name="S3Content"/>
          <p:cNvSpPr/>
          <p:nvPr/>
        </p:nvSpPr>
        <p:spPr>
          <a:xfrm>
            <a:off x="6019800" y="1400000"/>
            <a:ext cx="2590800" cy="3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Tokens are converted into integer IDs using BERT vocabulary. Neural networks process numbers, not text.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</a:rPr>
              <a:t>[if, you, cared] → [2065, 2017, 8719]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</p:spPr>
      </p:sp>
      <p:sp>
        <p:nvSpPr>
          <p:cNvPr id="3" name="Title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DistilBERT — Embeddings &amp; Positional Encoding (Steps 4–5)</a:t>
            </a:r>
          </a:p>
        </p:txBody>
      </p:sp>
      <p:sp>
        <p:nvSpPr>
          <p:cNvPr id="10" name="S4Box"/>
          <p:cNvSpPr/>
          <p:nvPr/>
        </p:nvSpPr>
        <p:spPr>
          <a:xfrm>
            <a:off x="457200" y="990000"/>
            <a:ext cx="4114800" cy="3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</p:sp>
      <p:sp>
        <p:nvSpPr>
          <p:cNvPr id="11" name="S4Header"/>
          <p:cNvSpPr/>
          <p:nvPr/>
        </p:nvSpPr>
        <p:spPr>
          <a:xfrm>
            <a:off x="457200" y="990000"/>
            <a:ext cx="4114800" cy="3800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txBody>
          <a:bodyPr wrap="square" lIns="76200" tIns="38100" rIns="762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4 — EMBEDDINGS</a:t>
            </a:r>
          </a:p>
        </p:txBody>
      </p:sp>
      <p:sp>
        <p:nvSpPr>
          <p:cNvPr id="12" name="S4Content"/>
          <p:cNvSpPr/>
          <p:nvPr/>
        </p:nvSpPr>
        <p:spPr>
          <a:xfrm>
            <a:off x="533400" y="1400000"/>
            <a:ext cx="3962400" cy="3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Each token ID becomes a dense vector. DistilBERT hidden size: 768 dimensions.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Example: </a:t>
            </a:r>
            <a:r>
              <a:rPr lang="en-US" sz="1000" dirty="0">
                <a:solidFill>
                  <a:srgbClr val="0891B2"/>
                </a:solidFill>
              </a:rPr>
              <a:t>“you” → [0.21, -0.77, 1.04, ...]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Three embeddings combined: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1. Token Embeddings → semantic meaning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2. Position Embeddings → word order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3. Segment Embeddings → sentence relationships</a:t>
            </a:r>
          </a:p>
        </p:txBody>
      </p:sp>
      <p:sp>
        <p:nvSpPr>
          <p:cNvPr id="20" name="S5Box"/>
          <p:cNvSpPr/>
          <p:nvPr/>
        </p:nvSpPr>
        <p:spPr>
          <a:xfrm>
            <a:off x="4724400" y="990000"/>
            <a:ext cx="4114800" cy="39000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</p:sp>
      <p:sp>
        <p:nvSpPr>
          <p:cNvPr id="21" name="S5Header"/>
          <p:cNvSpPr/>
          <p:nvPr/>
        </p:nvSpPr>
        <p:spPr>
          <a:xfrm>
            <a:off x="4724400" y="990000"/>
            <a:ext cx="4114800" cy="3800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txBody>
          <a:bodyPr wrap="square" lIns="76200" tIns="38100" rIns="762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5 — POSITIONAL INFORMATION</a:t>
            </a:r>
          </a:p>
        </p:txBody>
      </p:sp>
      <p:sp>
        <p:nvSpPr>
          <p:cNvPr id="22" name="S5Content"/>
          <p:cNvSpPr/>
          <p:nvPr/>
        </p:nvSpPr>
        <p:spPr>
          <a:xfrm>
            <a:off x="4800600" y="1400000"/>
            <a:ext cx="3962400" cy="3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2B4A"/>
                </a:solidFill>
              </a:rPr>
              <a:t>Transformers process all words simultaneously. Without positional info, word order is invisible.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50" i="1" dirty="0">
                <a:solidFill>
                  <a:srgbClr val="475569"/>
                </a:solidFill>
              </a:rPr>
              <a:t>“If you cared about me”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would look identical to: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950" i="1" dirty="0">
                <a:solidFill>
                  <a:srgbClr val="475569"/>
                </a:solidFill>
              </a:rPr>
              <a:t>“Me about cared you if”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2B4A"/>
                </a:solidFill>
              </a:rPr>
              <a:t>Position embeddings encode word order so the model understands sequence 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</p:spPr>
      </p:sp>
      <p:sp>
        <p:nvSpPr>
          <p:cNvPr id="3" name="Title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DistilBERT — Transformer Encoder &amp; Self-Attention (Steps 6–8)</a:t>
            </a:r>
          </a:p>
        </p:txBody>
      </p:sp>
      <p:sp>
        <p:nvSpPr>
          <p:cNvPr id="10" name="S6Box"/>
          <p:cNvSpPr/>
          <p:nvPr/>
        </p:nvSpPr>
        <p:spPr>
          <a:xfrm>
            <a:off x="457200" y="990000"/>
            <a:ext cx="25908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</p:sp>
      <p:sp>
        <p:nvSpPr>
          <p:cNvPr id="11" name="S6Hdr"/>
          <p:cNvSpPr/>
          <p:nvPr/>
        </p:nvSpPr>
        <p:spPr>
          <a:xfrm>
            <a:off x="457200" y="990000"/>
            <a:ext cx="2590800" cy="3800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txBody>
          <a:bodyPr wrap="square" lIns="76200" tIns="38100" rIns="762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6 — ENCODER LAYERS</a:t>
            </a:r>
          </a:p>
        </p:txBody>
      </p:sp>
      <p:sp>
        <p:nvSpPr>
          <p:cNvPr id="12" name="S6Txt"/>
          <p:cNvSpPr/>
          <p:nvPr/>
        </p:nvSpPr>
        <p:spPr>
          <a:xfrm>
            <a:off x="533400" y="1400000"/>
            <a:ext cx="2438400" cy="3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DistilBERT contains 6 Transformer Encoder layers. The sentence passes through all sequentially.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</a:rPr>
              <a:t>Each layer includes: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• Multi-head Self Attention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• Feed Forward Network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• Residual Connections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• Layer Normalization</a:t>
            </a:r>
          </a:p>
        </p:txBody>
      </p:sp>
      <p:sp>
        <p:nvSpPr>
          <p:cNvPr id="20" name="S7Box"/>
          <p:cNvSpPr/>
          <p:nvPr/>
        </p:nvSpPr>
        <p:spPr>
          <a:xfrm>
            <a:off x="3200400" y="990000"/>
            <a:ext cx="2590800" cy="38100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</p:sp>
      <p:sp>
        <p:nvSpPr>
          <p:cNvPr id="21" name="S7Hdr"/>
          <p:cNvSpPr/>
          <p:nvPr/>
        </p:nvSpPr>
        <p:spPr>
          <a:xfrm>
            <a:off x="3200400" y="990000"/>
            <a:ext cx="2590800" cy="3800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txBody>
          <a:bodyPr wrap="square" lIns="76200" tIns="38100" rIns="762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7 — SELF ATTENTION</a:t>
            </a:r>
          </a:p>
        </p:txBody>
      </p:sp>
      <p:sp>
        <p:nvSpPr>
          <p:cNvPr id="22" name="S7Txt"/>
          <p:cNvSpPr/>
          <p:nvPr/>
        </p:nvSpPr>
        <p:spPr>
          <a:xfrm>
            <a:off x="3276600" y="1400000"/>
            <a:ext cx="2438400" cy="3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2B4A"/>
                </a:solidFill>
              </a:rPr>
              <a:t>Core of transformer intelligence. Each token generates Query, Key, Value vectors.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</a:rPr>
              <a:t>Attention(Q,K,V) = softmax(QKᵀ/√dₖ) × V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1A2B4A"/>
                </a:solidFill>
              </a:rPr>
              <a:t>“cared” attends strongly to “you” and “me”, revealing emotional relationships and guilt implication.</a:t>
            </a:r>
          </a:p>
        </p:txBody>
      </p:sp>
      <p:sp>
        <p:nvSpPr>
          <p:cNvPr id="30" name="S8Box"/>
          <p:cNvSpPr/>
          <p:nvPr/>
        </p:nvSpPr>
        <p:spPr>
          <a:xfrm>
            <a:off x="5943600" y="990000"/>
            <a:ext cx="27432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</p:sp>
      <p:sp>
        <p:nvSpPr>
          <p:cNvPr id="31" name="S8Hdr"/>
          <p:cNvSpPr/>
          <p:nvPr/>
        </p:nvSpPr>
        <p:spPr>
          <a:xfrm>
            <a:off x="5943600" y="990000"/>
            <a:ext cx="2743200" cy="3800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txBody>
          <a:bodyPr wrap="square" lIns="76200" tIns="38100" rIns="762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8 — MULTI-HEAD ATTENTION</a:t>
            </a:r>
          </a:p>
        </p:txBody>
      </p:sp>
      <p:sp>
        <p:nvSpPr>
          <p:cNvPr id="32" name="S8Txt"/>
          <p:cNvSpPr/>
          <p:nvPr/>
        </p:nvSpPr>
        <p:spPr>
          <a:xfrm>
            <a:off x="6019800" y="1400000"/>
            <a:ext cx="2590800" cy="3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Multiple heads learn different relationships simultaneously.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Head 1: Grammar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Head 2: Emotional dependency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Head 3: Manipulation tone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Head 4: Subject-object relations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1A2B4A"/>
                </a:solidFill>
              </a:rPr>
              <a:t>Outputs combined for richer contextual understanding.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</p:spPr>
      </p:sp>
      <p:sp>
        <p:nvSpPr>
          <p:cNvPr id="3" name="Title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DistilBERT — FFN, Residuals, Normalization &amp; Output (Steps 9–13)</a:t>
            </a:r>
          </a:p>
        </p:txBody>
      </p:sp>
      <p:sp>
        <p:nvSpPr>
          <p:cNvPr id="10" name="S9B"/>
          <p:cNvSpPr/>
          <p:nvPr/>
        </p:nvSpPr>
        <p:spPr>
          <a:xfrm>
            <a:off x="228600" y="990000"/>
            <a:ext cx="1600200" cy="3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2B4A"/>
            </a:solidFill>
          </a:ln>
        </p:spPr>
      </p:sp>
      <p:sp>
        <p:nvSpPr>
          <p:cNvPr id="11" name="S9H"/>
          <p:cNvSpPr/>
          <p:nvPr/>
        </p:nvSpPr>
        <p:spPr>
          <a:xfrm>
            <a:off x="228600" y="990000"/>
            <a:ext cx="1600200" cy="3400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txBody>
          <a:bodyPr wrap="square" lIns="50800" tIns="25400" rIns="508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9</a:t>
            </a:r>
          </a:p>
        </p:txBody>
      </p:sp>
      <p:sp>
        <p:nvSpPr>
          <p:cNvPr id="12" name="S9T"/>
          <p:cNvSpPr/>
          <p:nvPr/>
        </p:nvSpPr>
        <p:spPr>
          <a:xfrm>
            <a:off x="304800" y="1360000"/>
            <a:ext cx="1447800" cy="3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Feed Forward Network</a:t>
            </a:r>
          </a:p>
          <a:p>
            <a:pPr marL="0" indent="0">
              <a:buNone/>
            </a:pP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Vectors pass through dense neural layers to extract higher-level semantic patterns.</a:t>
            </a:r>
          </a:p>
        </p:txBody>
      </p:sp>
      <p:sp>
        <p:nvSpPr>
          <p:cNvPr id="20" name="S10B"/>
          <p:cNvSpPr/>
          <p:nvPr/>
        </p:nvSpPr>
        <p:spPr>
          <a:xfrm>
            <a:off x="2000800" y="990000"/>
            <a:ext cx="1600200" cy="3900000"/>
          </a:xfrm>
          <a:prstGeom prst="rect">
            <a:avLst/>
          </a:prstGeom>
          <a:solidFill>
            <a:srgbClr val="E0F2FE"/>
          </a:solidFill>
          <a:ln w="9525">
            <a:solidFill>
              <a:srgbClr val="0891B2"/>
            </a:solidFill>
          </a:ln>
        </p:spPr>
      </p:sp>
      <p:sp>
        <p:nvSpPr>
          <p:cNvPr id="21" name="S10H"/>
          <p:cNvSpPr/>
          <p:nvPr/>
        </p:nvSpPr>
        <p:spPr>
          <a:xfrm>
            <a:off x="2000800" y="990000"/>
            <a:ext cx="1600200" cy="3400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txBody>
          <a:bodyPr wrap="square" lIns="50800" tIns="25400" rIns="508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10</a:t>
            </a:r>
          </a:p>
        </p:txBody>
      </p:sp>
      <p:sp>
        <p:nvSpPr>
          <p:cNvPr id="22" name="S10T"/>
          <p:cNvSpPr/>
          <p:nvPr/>
        </p:nvSpPr>
        <p:spPr>
          <a:xfrm>
            <a:off x="2077000" y="1360000"/>
            <a:ext cx="1447800" cy="3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Residual Connections</a:t>
            </a:r>
          </a:p>
          <a:p>
            <a:pPr marL="0" indent="0">
              <a:buNone/>
            </a:pP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1A2B4A"/>
                </a:solidFill>
              </a:rPr>
              <a:t>Output = Input + New Info</a:t>
            </a:r>
          </a:p>
          <a:p>
            <a:pPr marL="0" indent="0">
              <a:buNone/>
            </a:pP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Preserves earlier information, prevents vanishing gradients.</a:t>
            </a:r>
          </a:p>
        </p:txBody>
      </p:sp>
      <p:sp>
        <p:nvSpPr>
          <p:cNvPr id="30" name="S11B"/>
          <p:cNvSpPr/>
          <p:nvPr/>
        </p:nvSpPr>
        <p:spPr>
          <a:xfrm>
            <a:off x="3773000" y="990000"/>
            <a:ext cx="1600200" cy="3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2B4A"/>
            </a:solidFill>
          </a:ln>
        </p:spPr>
      </p:sp>
      <p:sp>
        <p:nvSpPr>
          <p:cNvPr id="31" name="S11H"/>
          <p:cNvSpPr/>
          <p:nvPr/>
        </p:nvSpPr>
        <p:spPr>
          <a:xfrm>
            <a:off x="3773000" y="990000"/>
            <a:ext cx="1600200" cy="3400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txBody>
          <a:bodyPr wrap="square" lIns="50800" tIns="25400" rIns="508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11</a:t>
            </a:r>
          </a:p>
        </p:txBody>
      </p:sp>
      <p:sp>
        <p:nvSpPr>
          <p:cNvPr id="32" name="S11T"/>
          <p:cNvSpPr/>
          <p:nvPr/>
        </p:nvSpPr>
        <p:spPr>
          <a:xfrm>
            <a:off x="3849200" y="1360000"/>
            <a:ext cx="1447800" cy="3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Layer Normalization</a:t>
            </a:r>
          </a:p>
          <a:p>
            <a:pPr marL="0" indent="0">
              <a:buNone/>
            </a:pP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Stabilizes activations. Faster convergence, stable gradients, smoother training.</a:t>
            </a:r>
          </a:p>
        </p:txBody>
      </p:sp>
      <p:sp>
        <p:nvSpPr>
          <p:cNvPr id="40" name="S12B"/>
          <p:cNvSpPr/>
          <p:nvPr/>
        </p:nvSpPr>
        <p:spPr>
          <a:xfrm>
            <a:off x="5545200" y="990000"/>
            <a:ext cx="1600200" cy="3900000"/>
          </a:xfrm>
          <a:prstGeom prst="rect">
            <a:avLst/>
          </a:prstGeom>
          <a:solidFill>
            <a:srgbClr val="E0F2FE"/>
          </a:solidFill>
          <a:ln w="9525">
            <a:solidFill>
              <a:srgbClr val="0891B2"/>
            </a:solidFill>
          </a:ln>
        </p:spPr>
      </p:sp>
      <p:sp>
        <p:nvSpPr>
          <p:cNvPr id="41" name="S12H"/>
          <p:cNvSpPr/>
          <p:nvPr/>
        </p:nvSpPr>
        <p:spPr>
          <a:xfrm>
            <a:off x="5545200" y="990000"/>
            <a:ext cx="1600200" cy="3400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txBody>
          <a:bodyPr wrap="square" lIns="50800" tIns="25400" rIns="508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12</a:t>
            </a:r>
          </a:p>
        </p:txBody>
      </p:sp>
      <p:sp>
        <p:nvSpPr>
          <p:cNvPr id="42" name="S12T"/>
          <p:cNvSpPr/>
          <p:nvPr/>
        </p:nvSpPr>
        <p:spPr>
          <a:xfrm>
            <a:off x="5621400" y="1360000"/>
            <a:ext cx="1447800" cy="3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Contextual Representation</a:t>
            </a:r>
          </a:p>
          <a:p>
            <a:pPr marL="0" indent="0">
              <a:buNone/>
            </a:pP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1A2B4A"/>
                </a:solidFill>
              </a:rPr>
              <a:t>“cared” now carries emotional pressure, guilt implication, relationship context.</a:t>
            </a:r>
          </a:p>
        </p:txBody>
      </p:sp>
      <p:sp>
        <p:nvSpPr>
          <p:cNvPr id="50" name="S13B"/>
          <p:cNvSpPr/>
          <p:nvPr/>
        </p:nvSpPr>
        <p:spPr>
          <a:xfrm>
            <a:off x="7317400" y="990000"/>
            <a:ext cx="1600200" cy="3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2B4A"/>
            </a:solidFill>
          </a:ln>
        </p:spPr>
      </p:sp>
      <p:sp>
        <p:nvSpPr>
          <p:cNvPr id="51" name="S13H"/>
          <p:cNvSpPr/>
          <p:nvPr/>
        </p:nvSpPr>
        <p:spPr>
          <a:xfrm>
            <a:off x="7317400" y="990000"/>
            <a:ext cx="1600200" cy="3400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txBody>
          <a:bodyPr wrap="square" lIns="50800" tIns="25400" rIns="508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13</a:t>
            </a:r>
          </a:p>
        </p:txBody>
      </p:sp>
      <p:sp>
        <p:nvSpPr>
          <p:cNvPr id="52" name="S13T"/>
          <p:cNvSpPr/>
          <p:nvPr/>
        </p:nvSpPr>
        <p:spPr>
          <a:xfrm>
            <a:off x="7393600" y="1360000"/>
            <a:ext cx="1447800" cy="3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</a:rPr>
              <a:t>[CLS] Token</a:t>
            </a:r>
          </a:p>
          <a:p>
            <a:pPr marL="0" indent="0">
              <a:buNone/>
            </a:pP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Acts as sentence summary. Stores overall meaning, emotional tone, and manipulation signals.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</p:spPr>
      </p:sp>
      <p:sp>
        <p:nvSpPr>
          <p:cNvPr id="3" name="Title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DistilBERT — Classification, Loss &amp; Training (Steps 14–17)</a:t>
            </a:r>
          </a:p>
        </p:txBody>
      </p:sp>
      <p:sp>
        <p:nvSpPr>
          <p:cNvPr id="10" name="S14B"/>
          <p:cNvSpPr/>
          <p:nvPr/>
        </p:nvSpPr>
        <p:spPr>
          <a:xfrm>
            <a:off x="457200" y="990000"/>
            <a:ext cx="3962400" cy="1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</p:sp>
      <p:sp>
        <p:nvSpPr>
          <p:cNvPr id="11" name="S14H"/>
          <p:cNvSpPr/>
          <p:nvPr/>
        </p:nvSpPr>
        <p:spPr>
          <a:xfrm>
            <a:off x="457200" y="990000"/>
            <a:ext cx="3962400" cy="3400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txBody>
          <a:bodyPr wrap="square" lIns="76200" tIns="38100" rIns="76200" bIns="381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14 — CLASSIFICATION HEAD</a:t>
            </a:r>
          </a:p>
        </p:txBody>
      </p:sp>
      <p:sp>
        <p:nvSpPr>
          <p:cNvPr id="12" name="S14T"/>
          <p:cNvSpPr/>
          <p:nvPr/>
        </p:nvSpPr>
        <p:spPr>
          <a:xfrm>
            <a:off x="533400" y="1350000"/>
            <a:ext cx="3810000" cy="1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[CLS] vector → Linear Layer (768→3) → Softmax → Classes: 0 Normal, 1 Explicit Abuse, 2 Manipulative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</a:rPr>
              <a:t>Example logits: </a:t>
            </a:r>
            <a:r>
              <a:rPr lang="en-US" sz="950" dirty="0">
                <a:solidFill>
                  <a:srgbClr val="0891B2"/>
                </a:solidFill>
              </a:rPr>
              <a:t>[-1.2, 0.8, 3.5]</a:t>
            </a:r>
          </a:p>
        </p:txBody>
      </p:sp>
      <p:sp>
        <p:nvSpPr>
          <p:cNvPr id="20" name="S15B"/>
          <p:cNvSpPr/>
          <p:nvPr/>
        </p:nvSpPr>
        <p:spPr>
          <a:xfrm>
            <a:off x="4571400" y="990000"/>
            <a:ext cx="4115400" cy="17900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</p:sp>
      <p:sp>
        <p:nvSpPr>
          <p:cNvPr id="21" name="S15H"/>
          <p:cNvSpPr/>
          <p:nvPr/>
        </p:nvSpPr>
        <p:spPr>
          <a:xfrm>
            <a:off x="4571400" y="990000"/>
            <a:ext cx="4115400" cy="3400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txBody>
          <a:bodyPr wrap="square" lIns="76200" tIns="38100" rIns="76200" bIns="381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15 — SOFTMAX PROBABILITIES</a:t>
            </a:r>
          </a:p>
        </p:txBody>
      </p:sp>
      <p:sp>
        <p:nvSpPr>
          <p:cNvPr id="22" name="S15T"/>
          <p:cNvSpPr/>
          <p:nvPr/>
        </p:nvSpPr>
        <p:spPr>
          <a:xfrm>
            <a:off x="4647600" y="1350000"/>
            <a:ext cx="3962400" cy="1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2B4A"/>
                </a:solidFill>
              </a:rPr>
              <a:t>Example: [0.02, 0.10, 0.88] → Normal 2%, Explicit Abuse 10%, Manipulative 88%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Prediction: Manipulative</a:t>
            </a:r>
          </a:p>
        </p:txBody>
      </p:sp>
      <p:sp>
        <p:nvSpPr>
          <p:cNvPr id="30" name="S16B"/>
          <p:cNvSpPr/>
          <p:nvPr/>
        </p:nvSpPr>
        <p:spPr>
          <a:xfrm>
            <a:off x="457200" y="2900000"/>
            <a:ext cx="3962400" cy="1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</p:sp>
      <p:sp>
        <p:nvSpPr>
          <p:cNvPr id="31" name="S16H"/>
          <p:cNvSpPr/>
          <p:nvPr/>
        </p:nvSpPr>
        <p:spPr>
          <a:xfrm>
            <a:off x="457200" y="2900000"/>
            <a:ext cx="3962400" cy="3400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txBody>
          <a:bodyPr wrap="square" lIns="76200" tIns="38100" rIns="76200" bIns="381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16 — LOSS FUNCTION</a:t>
            </a:r>
          </a:p>
        </p:txBody>
      </p:sp>
      <p:sp>
        <p:nvSpPr>
          <p:cNvPr id="32" name="S16T"/>
          <p:cNvSpPr/>
          <p:nvPr/>
        </p:nvSpPr>
        <p:spPr>
          <a:xfrm>
            <a:off x="533400" y="3260000"/>
            <a:ext cx="3810000" cy="14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Uses Weighted CrossEntropyLoss to handle class imbalance, giving more importance to minority classes. Loss increases when predictions are wrong.</a:t>
            </a:r>
          </a:p>
        </p:txBody>
      </p:sp>
      <p:sp>
        <p:nvSpPr>
          <p:cNvPr id="40" name="S17B"/>
          <p:cNvSpPr/>
          <p:nvPr/>
        </p:nvSpPr>
        <p:spPr>
          <a:xfrm>
            <a:off x="4571400" y="2900000"/>
            <a:ext cx="4115400" cy="19000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</p:sp>
      <p:sp>
        <p:nvSpPr>
          <p:cNvPr id="41" name="S17H"/>
          <p:cNvSpPr/>
          <p:nvPr/>
        </p:nvSpPr>
        <p:spPr>
          <a:xfrm>
            <a:off x="4571400" y="2900000"/>
            <a:ext cx="4115400" cy="3400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txBody>
          <a:bodyPr wrap="square" lIns="76200" tIns="38100" rIns="76200" bIns="381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17 — BACKPROPAGATION</a:t>
            </a:r>
          </a:p>
        </p:txBody>
      </p:sp>
      <p:sp>
        <p:nvSpPr>
          <p:cNvPr id="42" name="S17T"/>
          <p:cNvSpPr/>
          <p:nvPr/>
        </p:nvSpPr>
        <p:spPr>
          <a:xfrm>
            <a:off x="4647600" y="3260000"/>
            <a:ext cx="3962400" cy="14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2B4A"/>
                </a:solidFill>
              </a:rPr>
              <a:t>Gradients update attention weights, embeddings, and classification weights. Optimizer: AdamW, Learning rate: 2e-5.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</p:spPr>
      </p:sp>
      <p:sp>
        <p:nvSpPr>
          <p:cNvPr id="3" name="Title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DistilBERT — Knowledge Distillation &amp; Complete Flow (Steps 18–19)</a:t>
            </a:r>
          </a:p>
        </p:txBody>
      </p:sp>
      <p:sp>
        <p:nvSpPr>
          <p:cNvPr id="10" name="S18B"/>
          <p:cNvSpPr/>
          <p:nvPr/>
        </p:nvSpPr>
        <p:spPr>
          <a:xfrm>
            <a:off x="457200" y="990000"/>
            <a:ext cx="8229600" cy="17000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</a:ln>
        </p:spPr>
      </p:sp>
      <p:sp>
        <p:nvSpPr>
          <p:cNvPr id="11" name="S18H"/>
          <p:cNvSpPr/>
          <p:nvPr/>
        </p:nvSpPr>
        <p:spPr>
          <a:xfrm>
            <a:off x="457200" y="990000"/>
            <a:ext cx="8229600" cy="3600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txBody>
          <a:bodyPr wrap="square" lIns="76200" tIns="38100" rIns="76200" bIns="381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STEP 18 — KNOWLEDGE DISTILLATION</a:t>
            </a:r>
          </a:p>
        </p:txBody>
      </p:sp>
      <p:sp>
        <p:nvSpPr>
          <p:cNvPr id="12" name="S18T"/>
          <p:cNvSpPr/>
          <p:nvPr/>
        </p:nvSpPr>
        <p:spPr>
          <a:xfrm>
            <a:off x="533400" y="1370000"/>
            <a:ext cx="8077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1A2B4A"/>
                </a:solidFill>
              </a:rPr>
              <a:t>Teacher: BERT (110M params, 12 layers)  →  Student: DistilBERT (66M params, 6 layers)</a:t>
            </a:r>
          </a:p>
          <a:p>
            <a:pPr marL="0" indent="0" algn="ctr">
              <a:lnSpc>
                <a:spcPts val="18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Distillation Loss + MLM Loss + Cosine Embedding Loss  →  60% faster  |  40% smaller  |  near-BERT performance</a:t>
            </a:r>
          </a:p>
        </p:txBody>
      </p:sp>
      <p:sp>
        <p:nvSpPr>
          <p:cNvPr id="20" name="S19B"/>
          <p:cNvSpPr/>
          <p:nvPr/>
        </p:nvSpPr>
        <p:spPr>
          <a:xfrm>
            <a:off x="457200" y="2800000"/>
            <a:ext cx="8229600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</a:ln>
        </p:spPr>
      </p:sp>
      <p:sp>
        <p:nvSpPr>
          <p:cNvPr id="21" name="S19H"/>
          <p:cNvSpPr/>
          <p:nvPr/>
        </p:nvSpPr>
        <p:spPr>
          <a:xfrm>
            <a:off x="457200" y="2800000"/>
            <a:ext cx="8229600" cy="3600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txBody>
          <a:bodyPr wrap="square" lIns="76200" tIns="38100" rIns="76200" bIns="381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STEP 19 — FINAL OUTPUT &amp; COMPLETE FLOW</a:t>
            </a:r>
          </a:p>
        </p:txBody>
      </p:sp>
      <p:sp>
        <p:nvSpPr>
          <p:cNvPr id="22" name="S19T"/>
          <p:cNvSpPr/>
          <p:nvPr/>
        </p:nvSpPr>
        <p:spPr>
          <a:xfrm>
            <a:off x="533400" y="3180000"/>
            <a:ext cx="3657600" cy="1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1A2B4A"/>
                </a:solidFill>
              </a:rPr>
              <a:t>DistilBERT outputs: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1. Predicted class  |  2. Confidence score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Fusion Scoring combines content score + keyword score + escalation score → SAFE / WARNING / HIGH RISK</a:t>
            </a:r>
          </a:p>
        </p:txBody>
      </p:sp>
      <p:sp>
        <p:nvSpPr>
          <p:cNvPr id="30" name="FlowT"/>
          <p:cNvSpPr/>
          <p:nvPr/>
        </p:nvSpPr>
        <p:spPr>
          <a:xfrm>
            <a:off x="4419600" y="3180000"/>
            <a:ext cx="4191000" cy="15700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</p:sp>
      <p:sp>
        <p:nvSpPr>
          <p:cNvPr id="31" name="FlowContent"/>
          <p:cNvSpPr/>
          <p:nvPr/>
        </p:nvSpPr>
        <p:spPr>
          <a:xfrm>
            <a:off x="4495800" y="3200000"/>
            <a:ext cx="4038600" cy="15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A"/>
                </a:solidFill>
              </a:rPr>
              <a:t>Raw Text → Tokenization → Token IDs → Embeddings → Positional Encoding → 6 Encoder Layers → Self Attention → [CLS] Representation → Classification Head → Softmax → Fusion Scoring → Final Risk Assessment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Fusion Scoring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2651760" cy="2286000"/>
          </a:xfrm>
          <a:prstGeom prst="rect">
            <a:avLst/>
          </a:prstGeom>
          <a:solidFill>
            <a:srgbClr val="162236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51560"/>
            <a:ext cx="265176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0.4×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9768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Neural Content Score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9933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DistilBERT softmax probability. The deep-learning foundation.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71800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</a:rPr>
              <a:t>+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51760" cy="2286000"/>
          </a:xfrm>
          <a:prstGeom prst="rect">
            <a:avLst/>
          </a:prstGeom>
          <a:solidFill>
            <a:srgbClr val="162236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51560"/>
            <a:ext cx="265176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0.3×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10128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Keyword Score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9933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Rule-based detection of guilt-tripping, isolation, gaslighting phrases. Explainable safety net.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0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</a:rPr>
              <a:t>+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2651760" cy="2286000"/>
          </a:xfrm>
          <a:prstGeom prst="rect">
            <a:avLst/>
          </a:prstGeom>
          <a:solidFill>
            <a:srgbClr val="162236"/>
          </a:solidFill>
          <a:ln w="19050">
            <a:solidFill>
              <a:srgbClr val="E879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051560"/>
            <a:ext cx="2651760" cy="41148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0.3×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90488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9F9"/>
                </a:solidFill>
              </a:rPr>
              <a:t>Escalation 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0488" y="19933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Tracks severity increase across message turns. Spikes to 0.8 on escalating conversations.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520440"/>
            <a:ext cx="0" cy="41148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3931920"/>
            <a:ext cx="41148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86000" y="3931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Final Risk Score  =  0.85  →  HIGH RISK ⚠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Results &amp; Streamlit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92024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78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</a:rPr>
              <a:t>98%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Validation Accuracy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192024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78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</a:rPr>
              <a:t>5/5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Fusion Tests Passed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1051560"/>
            <a:ext cx="192024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78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</a:rPr>
              <a:t>255 MB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Deployment Footprint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1051560"/>
            <a:ext cx="192024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78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Datasets Combined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Risk Thresholds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269748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97480"/>
            <a:ext cx="9144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1576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&lt; 0.35  ·  SAFE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9443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No action needed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264408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264408"/>
            <a:ext cx="9144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8269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0.35 – 0.64  ·  WARNING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5112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Monitor closely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83133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831336"/>
            <a:ext cx="9144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84962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≥ 0.65  ·  HIGH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0782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Immediate review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Streamlit App Features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0" y="269748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2697480"/>
            <a:ext cx="9144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6974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Real-time NLP inference per message turn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0" y="326440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3264408"/>
            <a:ext cx="9144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2644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Color-coded Content / Manipulation / Escalation scores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0" y="383133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3831336"/>
            <a:ext cx="9144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83133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Graceful base-model fallback mechanism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0" y="4398264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0" y="4398264"/>
            <a:ext cx="9144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39826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Fully modular — update keywords without retraining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1148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Contributions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99032"/>
            <a:ext cx="4114800" cy="420624"/>
          </a:xfrm>
          <a:prstGeom prst="rect">
            <a:avLst/>
          </a:prstGeom>
          <a:solidFill>
            <a:srgbClr val="162236"/>
          </a:solidFill>
          <a:ln w="6350">
            <a:solidFill>
              <a:srgbClr val="2D4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9903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Multi-source unified corpus from 4 diverse datasets (ConvAbuse, MentalManip ×2, ETHOS)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901952"/>
            <a:ext cx="4114800" cy="420624"/>
          </a:xfrm>
          <a:prstGeom prst="rect">
            <a:avLst/>
          </a:prstGeom>
          <a:solidFill>
            <a:srgbClr val="162236"/>
          </a:solidFill>
          <a:ln w="6350">
            <a:solidFill>
              <a:srgbClr val="2D4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0195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Fine-tuned DistilBERT with 98% validation accuracy via inverse-frequency class weighting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4114800" cy="420624"/>
          </a:xfrm>
          <a:prstGeom prst="rect">
            <a:avLst/>
          </a:prstGeom>
          <a:solidFill>
            <a:srgbClr val="162236"/>
          </a:solidFill>
          <a:ln w="6350">
            <a:solidFill>
              <a:srgbClr val="2D4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0487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Novel Fusion Scoring: neural + rule-based keywords + multi-turn escalation in one score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907792"/>
            <a:ext cx="4114800" cy="420624"/>
          </a:xfrm>
          <a:prstGeom prst="rect">
            <a:avLst/>
          </a:prstGeom>
          <a:solidFill>
            <a:srgbClr val="162236"/>
          </a:solidFill>
          <a:ln w="6350">
            <a:solidFill>
              <a:srgbClr val="2D4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0779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Deployed Streamlit app for real-time risk assessment within 300 MB cloud limit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NLP Course Project  ·  DistilBERT + Fusion Scoring  ·  May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1386</Words>
  <Application>Microsoft Office PowerPoint</Application>
  <PresentationFormat>On-screen Show (16:9)</PresentationFormat>
  <Paragraphs>260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Manipulative Language in Online Dating - NLP Project</dc:title>
  <dc:subject>PptxGenJS Presentation</dc:subject>
  <dc:creator>PptxGenJS</dc:creator>
  <cp:lastModifiedBy>Ardra selin</cp:lastModifiedBy>
  <cp:revision>7</cp:revision>
  <dcterms:created xsi:type="dcterms:W3CDTF">2026-05-05T07:57:41Z</dcterms:created>
  <dcterms:modified xsi:type="dcterms:W3CDTF">2026-05-07T10:17:05Z</dcterms:modified>
</cp:coreProperties>
</file>